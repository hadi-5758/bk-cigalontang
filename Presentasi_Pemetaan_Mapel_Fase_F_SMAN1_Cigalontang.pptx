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ANALISIS &amp; PEMETAAN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3600" b="1">
                <a:solidFill>
                  <a:srgbClr val="FFC800"/>
                </a:solidFill>
              </a:rPr>
              <a:t>Mata Pelajaran Pilihan Fase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4712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Kelas XI – Tahun Ajaran 2026/2027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124712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SMA NEGERI 1 CIGALONTANG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0">
                <a:solidFill>
                  <a:srgbClr val="E6E6E6"/>
                </a:solidFill>
              </a:rPr>
              <a:t>Kabupaten Tasikmalaya – Jawa Barat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1">
                <a:solidFill>
                  <a:srgbClr val="1F4E78"/>
                </a:solidFill>
              </a:rPr>
              <a:t>Dasar Hukum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</a:rPr>
              <a:t>Permendikbudristek No. 12 Tahun 2024 • Kepmendikdasmen No. 102/M/2025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</a:rPr>
              <a:t>Berdasarkan 252 Respons Asesmen Karir Kelas X TA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640080" cy="6400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64008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14300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>
                <a:solidFill>
                  <a:srgbClr val="1F4E78"/>
                </a:solidFill>
              </a:rPr>
              <a:t>Dasar Hukum &amp; Regulasi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6304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Permendikbudristek 12/2024 &amp; Kepmendikdasmen 102/M/2025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920240"/>
            <a:ext cx="640080" cy="6400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64008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96596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>
                <a:solidFill>
                  <a:srgbClr val="1F4E78"/>
                </a:solidFill>
              </a:rPr>
              <a:t>Profil Data Angket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28600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252 responden, 7 kelas 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743200"/>
            <a:ext cx="640080" cy="6400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64008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78892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>
                <a:solidFill>
                  <a:srgbClr val="1F4E78"/>
                </a:solidFill>
              </a:rPr>
              <a:t>Distribusi Pilihan Mapel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10896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Top mapel &amp; pola pemilihan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566160"/>
            <a:ext cx="640080" cy="6400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64008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611879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>
                <a:solidFill>
                  <a:srgbClr val="1F4E78"/>
                </a:solidFill>
              </a:rPr>
              <a:t>Analisis Cita-cita vs SNBP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93192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Kesesuaian pilihan mapel dengan karir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389120"/>
            <a:ext cx="640080" cy="6400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389120"/>
            <a:ext cx="64008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43484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>
                <a:solidFill>
                  <a:srgbClr val="1F4E78"/>
                </a:solidFill>
              </a:rPr>
              <a:t>Rekomendasi 4 Paket Kelas XI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75488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7 Rombel A / B / C / 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212080"/>
            <a:ext cx="640080" cy="6400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212080"/>
            <a:ext cx="64008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25780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>
                <a:solidFill>
                  <a:srgbClr val="1F4E78"/>
                </a:solidFill>
              </a:rPr>
              <a:t>Rencana Tindak Lanjut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577840"/>
            <a:ext cx="9144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BK, Kurikulum, Siswa &amp; Orang Tua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SMA Negeri 1 Cigalontang – Pemetaan Mapel Fase F TA 2026/2027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556248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Hal.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1. DASAR HUKUM &amp; REGULASI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486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61288"/>
            <a:ext cx="5029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Permendikbudristek No. 12 Tahun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303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• Mengatur struktur Kurikulum Merdeka Fase F (Kelas XI &amp; XII)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303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• Kelompok Mata Pelajaran UMUM: wajib semua siswa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5303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• Kelompok Mata Pelajaran PILIHAN: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39"/>
            <a:ext cx="5303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   • Sekolah wajib sediakan ≥ 7 mapel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94759"/>
            <a:ext cx="5303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   • Siswa wajib pilih 4–5 mapel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79"/>
            <a:ext cx="5303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• Tujuan: layanan pendidikan berpihak pada minat, bakat, dan rencana studi siswa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097280"/>
            <a:ext cx="5486400" cy="50292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097280"/>
            <a:ext cx="5486400" cy="54864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161288"/>
            <a:ext cx="5029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Kepmendikdasmen No. 102/M/2025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783080"/>
            <a:ext cx="5303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• Memetakan Mapel Pendukung SNBP per prodi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86000"/>
            <a:ext cx="5303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• Menggantikan Kepmendikbudristek 345/M/2022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88920"/>
            <a:ext cx="5303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• Berlaku efektif TA 2025/2026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91839"/>
            <a:ext cx="5303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• Nilai mapel pendukung = komponen SNBP (bobot ≤ 50%)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94759"/>
            <a:ext cx="5303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• Tiap prodi punya 1–3 mapel pendukung (wajib/alternatif)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97679"/>
            <a:ext cx="5303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• Referensi utama: pusmendik.kemdikbud.go.id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SMA Negeri 1 Cigalontang – Pemetaan Mapel Fase F TA 2026/2027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556248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Hal.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2. PROFIL DATA RESPONDEN</a:t>
            </a:r>
          </a:p>
        </p:txBody>
      </p:sp>
      <p:sp>
        <p:nvSpPr>
          <p:cNvPr id="4" name="Rectangle 3"/>
          <p:cNvSpPr/>
          <p:nvPr/>
        </p:nvSpPr>
        <p:spPr>
          <a:xfrm>
            <a:off x="289407" y="1188720"/>
            <a:ext cx="2103120" cy="19202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407" y="1371600"/>
            <a:ext cx="21031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252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407" y="2331720"/>
            <a:ext cx="21031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Total Siswa</a:t>
            </a:r>
          </a:p>
        </p:txBody>
      </p:sp>
      <p:sp>
        <p:nvSpPr>
          <p:cNvPr id="7" name="Rectangle 6"/>
          <p:cNvSpPr/>
          <p:nvPr/>
        </p:nvSpPr>
        <p:spPr>
          <a:xfrm>
            <a:off x="2666847" y="1188720"/>
            <a:ext cx="2103120" cy="1920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6847" y="1371600"/>
            <a:ext cx="21031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6847" y="2331720"/>
            <a:ext cx="21031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Kelas X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44287" y="1188720"/>
            <a:ext cx="2103120" cy="192024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4287" y="1371600"/>
            <a:ext cx="21031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4287" y="2331720"/>
            <a:ext cx="21031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Rencana Kuliah
(38,5%)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21727" y="1188720"/>
            <a:ext cx="2103120" cy="192024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1727" y="1371600"/>
            <a:ext cx="21031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155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1727" y="2331720"/>
            <a:ext cx="21031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Rencana Bekerja
(61,5%)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99167" y="1188720"/>
            <a:ext cx="2103120" cy="19202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99167" y="1371600"/>
            <a:ext cx="21031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99167" y="2331720"/>
            <a:ext cx="21031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Pemegang
KIP/KIS/KKS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11247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1F4E78"/>
                </a:solidFill>
              </a:rPr>
              <a:t>Dominasi Pilihan Mapel (n=252)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3931920"/>
            <a:ext cx="6066971" cy="73152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069080"/>
            <a:ext cx="6066971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Dominan Soshum 60.3%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72811" y="3931920"/>
            <a:ext cx="2195285" cy="73152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2811" y="4069080"/>
            <a:ext cx="2195285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Dominan Saintek 21.8%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68097" y="3931920"/>
            <a:ext cx="1756228" cy="73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8097" y="4069080"/>
            <a:ext cx="1756228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Campuran 17.5%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024325" y="3931920"/>
            <a:ext cx="39914" cy="7315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709160"/>
            <a:ext cx="10058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Mayoritas siswa condong ke Soshum — sejalan dengan cita-cita wirausaha &amp; bisnis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SMA Negeri 1 Cigalontang – Pemetaan Mapel Fase F TA 2026/2027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556248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Hal.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3. DISTRIBUSI PILIHAN MATA PELAJARAN</a:t>
            </a:r>
          </a:p>
        </p:txBody>
      </p:sp>
      <p:pic>
        <p:nvPicPr>
          <p:cNvPr id="4" name="Picture 3" descr="01_distribusi_map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7772400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005840"/>
            <a:ext cx="33832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F4E78"/>
                </a:solidFill>
              </a:rPr>
              <a:t>Top 3 Mapel Favorit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0" y="1463040"/>
            <a:ext cx="3383280" cy="82296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1508760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F4E78"/>
                </a:solidFill>
              </a:rPr>
              <a:t>Sosiologi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874520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188 siswa (74.6%)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2423160"/>
            <a:ext cx="3383280" cy="82296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2468880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F4E78"/>
                </a:solidFill>
              </a:rPr>
              <a:t>Ekonomi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834640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165 siswa (65.5%)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3383280"/>
            <a:ext cx="3383280" cy="82296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3429000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F4E78"/>
                </a:solidFill>
              </a:rPr>
              <a:t>PKWU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794760"/>
            <a:ext cx="3200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</a:rPr>
              <a:t>163 siswa (64.7%)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663440"/>
            <a:ext cx="33832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D62728"/>
                </a:solidFill>
              </a:rPr>
              <a:t>Mapel Peminat Terendah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5074920"/>
            <a:ext cx="3200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• Fisika: 34 siswa (13.5%)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5394959"/>
            <a:ext cx="3200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• Informatika: 43 siswa (17.1%)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714999"/>
            <a:ext cx="3200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• Kimia: 51 siswa (20.2%)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SMA Negeri 1 Cigalontang – Pemetaan Mapel Fase F TA 2026/2027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556248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Hal.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4. RUMPUN CITA-CITA SISWA</a:t>
            </a:r>
          </a:p>
        </p:txBody>
      </p:sp>
      <p:pic>
        <p:nvPicPr>
          <p:cNvPr id="4" name="Picture 3" descr="02_rumpun_c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7772400" cy="46634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03920" y="914400"/>
            <a:ext cx="3474720" cy="50292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051560"/>
            <a:ext cx="32918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F4E78"/>
                </a:solidFill>
              </a:rPr>
              <a:t>Insight Utama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554480"/>
            <a:ext cx="3291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</a:rPr>
              <a:t>Ekonomi &amp; Bisnis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828800"/>
            <a:ext cx="3291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92 siswa (36,5%)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194560"/>
            <a:ext cx="3291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</a:rPr>
              <a:t>Kesehatan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468879"/>
            <a:ext cx="3291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51 siswa (20,2%)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834639"/>
            <a:ext cx="3291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</a:rPr>
              <a:t>Teknik +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108959"/>
            <a:ext cx="3291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42 siswa (16,7%)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474720"/>
            <a:ext cx="3291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</a:rPr>
              <a:t>Belum Jelas/Lainnya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749039"/>
            <a:ext cx="3291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29 siswa (11,5%)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114800"/>
            <a:ext cx="3291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</a:rPr>
              <a:t>Hukum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389120"/>
            <a:ext cx="3291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7 siswa (2,8%)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754880"/>
            <a:ext cx="3291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</a:rPr>
              <a:t>TNI/Polri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029200"/>
            <a:ext cx="3291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6 siswa (2,4%)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SMA Negeri 1 Cigalontang – Pemetaan Mapel Fase F TA 2026/2027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556248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Hal.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5. KESESUAIAN MAPEL ↔ CITA-CITA vs SNBP</a:t>
            </a:r>
          </a:p>
        </p:txBody>
      </p:sp>
      <p:pic>
        <p:nvPicPr>
          <p:cNvPr id="4" name="Picture 3" descr="04_kesesua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943600" cy="4457700"/>
          </a:xfrm>
          <a:prstGeom prst="rect">
            <a:avLst/>
          </a:prstGeom>
        </p:spPr>
      </p:pic>
      <p:pic>
        <p:nvPicPr>
          <p:cNvPr id="5" name="Picture 4" descr="10_kesesuaian_per_rump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914400"/>
            <a:ext cx="548640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1">
                <a:solidFill>
                  <a:srgbClr val="1F4E78"/>
                </a:solidFill>
              </a:rPr>
              <a:t>✓ 117 siswa SANGAT SESUAI | ⚠ 87 SEBAGIAN | ⚠ 24 KURANG | ❌ 24 TIDAK SESUAI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D62728"/>
                </a:solidFill>
              </a:rPr>
              <a:t>⚠ 48 siswa (19%) perlu pendampingan BK ulang — pilihan mapel tidak mendukung SNBP pilihan prodi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SMA Negeri 1 Cigalontang – Pemetaan Mapel Fase F TA 2026/2027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56248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Hal.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6. REKOMENDASI 4 PAKET KELAS XI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2834640" cy="530352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834640" cy="73152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97280"/>
            <a:ext cx="2834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PAKET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28800"/>
            <a:ext cx="28346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1F4E78"/>
                </a:solidFill>
              </a:rPr>
              <a:t>SAINTEK – Kesehatan &amp; MIPA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0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</a:rPr>
              <a:t>Mapel Pilihan (5):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80359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>• Matematika Tingkat Lanjut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54679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>• Biologi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28999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>• Kimia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03319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>• Fisika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77639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>• PKWU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846320"/>
            <a:ext cx="2468880" cy="6400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892040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57 siswa (22.6%)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166360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2 rombel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005840"/>
            <a:ext cx="2834640" cy="530352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1005840"/>
            <a:ext cx="283464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097280"/>
            <a:ext cx="2834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PAKET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1828800"/>
            <a:ext cx="28346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2E75B6"/>
                </a:solidFill>
              </a:rPr>
              <a:t>SAINTEK – Teknik &amp; Informatika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560320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</a:rPr>
              <a:t>Mapel Pilihan (5):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880359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>• Matematika Tingkat Lanjut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154679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>• Fisika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428999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>• Kimia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703319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>• Informatika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977639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>• PKWU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4846320"/>
            <a:ext cx="246888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4892040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45 siswa (17.9%)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5166360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1 rombel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1005840"/>
            <a:ext cx="2834640" cy="530352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1005840"/>
            <a:ext cx="2834640" cy="73152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1097280"/>
            <a:ext cx="2834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PAKET 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1828800"/>
            <a:ext cx="28346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7F0E"/>
                </a:solidFill>
              </a:rPr>
              <a:t>SOSHUM – Bisnis &amp; Ekonomi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560320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</a:rPr>
              <a:t>Mapel Pilihan (5):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880359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>• Matematika Tingkat Lanjut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154679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>• Ekonomi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428999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>• Sosiologi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703319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>• Geografi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977639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>• PKWU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46520" y="4846320"/>
            <a:ext cx="2468880" cy="64008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4892040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112 siswa (44.4%)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5166360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3 rombel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1005840"/>
            <a:ext cx="2834640" cy="530352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35440" y="1005840"/>
            <a:ext cx="2834640" cy="7315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1097280"/>
            <a:ext cx="2834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PAKET 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1828800"/>
            <a:ext cx="28346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D62728"/>
                </a:solidFill>
              </a:rPr>
              <a:t>SOSHUM – Humaniora, Hukum &amp; Pendidikan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2560320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</a:rPr>
              <a:t>Mapel Pilihan (5):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2880359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>• Sosiologi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0" y="3154679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>• Sejarah Tingkat Lanjut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3428999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>• Geografi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3703319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>• Ekonomi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0" y="3977639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323232"/>
                </a:solidFill>
              </a:rPr>
              <a:t>• PKWU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18320" y="4846320"/>
            <a:ext cx="2468880" cy="64008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18320" y="4892040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38 siswa (15.1%)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0" y="5166360"/>
            <a:ext cx="246888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1 rombel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4E78"/>
                </a:solidFill>
              </a:rPr>
              <a:t>Total: 7 Rombel Kelas XI untuk 252 siswa (≈36 siswa/rombel)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SMA Negeri 1 Cigalontang – Pemetaan Mapel Fase F TA 2026/2027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4415" y="6556248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Hal.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7. PEMETAAN ASAL KELAS X → PAKET XI</a:t>
            </a:r>
          </a:p>
        </p:txBody>
      </p:sp>
      <p:pic>
        <p:nvPicPr>
          <p:cNvPr id="4" name="Picture 3" descr="07_paket_per_ke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61347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</a:rPr>
              <a:t>Setiap kelas X akan "pecah" ke seluruh paket → sosialisasi dan pemetaan harus individual per siswa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SMA Negeri 1 Cigalontang – Pemetaan Mapel Fase F TA 2026/2027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56248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Hal.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8. KEPATUHAN JUMLAH MAPEL (4–5)</a:t>
            </a:r>
          </a:p>
        </p:txBody>
      </p:sp>
      <p:pic>
        <p:nvPicPr>
          <p:cNvPr id="4" name="Picture 3" descr="06_jumlah_map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7772400" cy="431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03920" y="1097280"/>
            <a:ext cx="3474720" cy="45720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1188720"/>
            <a:ext cx="3291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F4E78"/>
                </a:solidFill>
              </a:rPr>
              <a:t>Status Kepatuhan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1737360"/>
            <a:ext cx="3108960" cy="109728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828800"/>
            <a:ext cx="31089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172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377440"/>
            <a:ext cx="31089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Sesuai 4-5 mapel (68.3%)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3017520"/>
            <a:ext cx="3108960" cy="109728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3108960"/>
            <a:ext cx="31089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657600"/>
            <a:ext cx="31089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Belum sesuai (31.7%)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4297680"/>
            <a:ext cx="347472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1E1E1E"/>
                </a:solidFill>
              </a:rPr>
              <a:t>ACTION:
Siswa yang memilih &lt;4 atau &gt;5 mapel harus diminta mengisi ulang dengan bimbingan Wali Kelas &amp; Guru BK sebelum penentuan final paket.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SMA Negeri 1 Cigalontang – Pemetaan Mapel Fase F TA 2026/2027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556248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Hal.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9. RENCANA TINDAK LANJUT (RTL)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3749039" cy="64008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3749039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Guru BK &amp; Wali Kelas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82880" cy="5486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246119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82828"/>
                </a:solidFill>
              </a:rPr>
              <a:t>Konseling ulang 80 siswa yang belum pilih 4-5 mapel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182880" cy="5486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246119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82828"/>
                </a:solidFill>
              </a:rPr>
              <a:t>Bimbingan khusus 48 siswa dengan kesesuaian KURANG/TIDAK SESUAI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182880" cy="5486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3246119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82828"/>
                </a:solidFill>
              </a:rPr>
              <a:t>Klarifikasi cita-cita 29 siswa kategori "Belum Ditentukan"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005840"/>
            <a:ext cx="3749039" cy="64008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59" y="1097280"/>
            <a:ext cx="3749039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Kurikulum &amp; Kepala Sekolah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19" y="1828800"/>
            <a:ext cx="182880" cy="54864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39" y="1828800"/>
            <a:ext cx="3246119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82828"/>
                </a:solidFill>
              </a:rPr>
              <a:t>Tetapkan 4 Paket Kelas (A,B,C,D) dalam 7 Rombel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19" y="2743200"/>
            <a:ext cx="182880" cy="54864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39" y="2743200"/>
            <a:ext cx="3246119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82828"/>
                </a:solidFill>
              </a:rPr>
              <a:t>Pastikan ketersediaan guru Fisika, Informatika, Kimia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19" y="3657600"/>
            <a:ext cx="182880" cy="54864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39" y="3657600"/>
            <a:ext cx="3246119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82828"/>
                </a:solidFill>
              </a:rPr>
              <a:t>Sosialisasi regulasi ke siswa &amp; orang tua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19" y="4572000"/>
            <a:ext cx="182880" cy="54864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39" y="4572000"/>
            <a:ext cx="3246119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82828"/>
                </a:solidFill>
              </a:rPr>
              <a:t>Integrasi PKWU di semua paket (dukung 61% siswa yang bekerja)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8" y="1005840"/>
            <a:ext cx="3749039" cy="64008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8" y="1097280"/>
            <a:ext cx="3749039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Siswa &amp; Orang Tua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38" y="1828800"/>
            <a:ext cx="182880" cy="54864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58" y="1828800"/>
            <a:ext cx="3246119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82828"/>
                </a:solidFill>
              </a:rPr>
              <a:t>Pilih paket berdasar: cita-cita → prodi → mapel pendukung SNBP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38" y="2743200"/>
            <a:ext cx="182880" cy="54864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58" y="2743200"/>
            <a:ext cx="3246119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82828"/>
                </a:solidFill>
              </a:rPr>
              <a:t>Manfaatkan nilai raport untuk jalur SNBP 2027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38" y="3657600"/>
            <a:ext cx="182880" cy="54864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58" y="3657600"/>
            <a:ext cx="3246119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82828"/>
                </a:solidFill>
              </a:rPr>
              <a:t>Hindari pilihan "ikut teman" — pilih berbasis minat &amp;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56248"/>
            <a:ext cx="9144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SMA Negeri 1 Cigalontang – Pemetaan Mapel Fase F TA 2026/2027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556248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</a:rPr>
              <a:t>Hal.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4712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0">
                <a:solidFill>
                  <a:srgbClr val="E6E6E6"/>
                </a:solidFill>
              </a:rPr>
              <a:t>Semoga analisis ini menjadi dasar pemetaan kelas XI yang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0">
                <a:solidFill>
                  <a:srgbClr val="E6E6E6"/>
                </a:solidFill>
              </a:rPr>
              <a:t>mengakomodasi minat siswa sekaligus mendukung jalur SNBP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1">
                <a:solidFill>
                  <a:srgbClr val="FFC800"/>
                </a:solidFill>
              </a:rPr>
              <a:t>SMA Negeri 1 Cigalontang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E6E6E6"/>
                </a:solidFill>
              </a:rPr>
              <a:t>Tim BK &amp; Wakasek Kurikulum | TA 2025/2026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